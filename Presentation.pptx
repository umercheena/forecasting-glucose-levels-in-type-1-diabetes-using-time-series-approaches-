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9" r:id="rId5"/>
    <p:sldId id="260" r:id="rId6"/>
    <p:sldId id="261" r:id="rId7"/>
    <p:sldId id="262" r:id="rId8"/>
    <p:sldId id="270" r:id="rId9"/>
    <p:sldId id="264" r:id="rId10"/>
    <p:sldId id="266" r:id="rId11"/>
    <p:sldId id="267" r:id="rId12"/>
    <p:sldId id="268" r:id="rId13"/>
    <p:sldId id="258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75" d="100"/>
          <a:sy n="75" d="100"/>
        </p:scale>
        <p:origin x="300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0233A-8502-FA1E-466F-450993754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A1509-B7AD-7F9F-16A9-AE28D087E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84231-D1F3-8B81-435C-54B07167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ABC0-5B2F-F724-8CA2-4AD77668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18CD9-AF82-42D1-BC1C-658768A8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3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6EB5E-2092-7513-D04D-E5E78C5E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D9BFA-2821-8AEE-0367-D1075E3DC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747AA-F5DC-568E-961F-0ACD62C1C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9AB5-2529-DD05-8418-4F5D2063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72641-2211-B9D2-5D2D-0CEB8472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6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D318-5258-AC17-6C18-EDC7A0E2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AA8BA-7FCE-091F-1093-66C2A40FD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7A8C4-D1D5-E1DB-F08E-8B156A7B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F9995-3282-B218-7191-E568452F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F1B2D-C1C3-A65E-1408-E70F777A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48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A704D-25C0-7EDF-CEA5-DCE052A9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68D0C-C762-2E8D-EFFF-B6428E49B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D6A28-29A6-A188-F39E-EE18F7214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C8420-8092-8F83-5898-D1840E52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B2B63-B8D4-0012-4697-D34CD3D8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53526-7DD6-6900-9E5B-C797C484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03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E6A6-76FA-6EE0-66C1-7741163D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A569E-1139-ECE6-92DF-E2D763E38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1926F-A356-439E-66AA-B31618FB4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154CD-3FBF-FD8E-1309-94F02AA32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72DD8-8AE8-5272-7AAE-713C06DC4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15EE4-0950-AC4E-B9A8-10C16B81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391F9B-BCF5-5978-5AD9-EF15A0A6B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58E924-960D-C061-B955-5681188B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42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254AB-E4AF-97D1-13DB-9743E4F2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85C8F-6C01-0872-D4A4-1681C8614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21840-6C7D-D338-AEAA-9912C181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7559-FEA9-BD9A-986F-B9BF28CF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5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D35C0-B892-D771-9D79-3F2CFD09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BF12E8-3598-406B-DBAA-38B40C29D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19750-A64A-5D60-7886-B5B927CD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2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329F5-F258-2B35-D559-7CDACD218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581E1-A40C-DC47-3436-E99EA6FBF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E40DC-26D7-E5B8-F9A7-69B1259F0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5493B-1A65-BDDE-7561-854F30C56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36162-44BB-91F5-AEC5-8E51C544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30804-2826-780F-891A-3E502A00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13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72D51-6CB7-75AC-C9F3-ECB0CB3B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236A4D-B34C-4927-6686-2DF650CB8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B7C65-B5B0-8909-FBD1-E5CFD82AD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2835C-1BDC-EFC7-D700-8652F64E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6D64F-C08E-83AD-6BB3-E65A8CEFB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8EC10-91FD-FCEF-961B-BEE11695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1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1255-F548-53A7-3D6E-06048978E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A3A7E-F865-7838-C478-65A732BBA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C672-B4D1-9CF2-A316-F3621CE9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38191-800D-7018-0165-8CE42D4E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FF4A2-916B-9E89-DA21-0F4AF72E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8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79DCB2-9465-C3D9-A471-C8CDDA2F0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92A24-07D9-EC08-D38B-6E7FBF89F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F8236-4806-23DA-C131-7071FED9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400D1-4DCA-DE72-5E3A-B3F748AC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F34DA-8C4C-F4DB-0DD9-1E701995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27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3F663-26F9-B8AD-3822-446F00EDD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DE7A3-1054-0DDF-EE23-B2297BB08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94533-69F0-2A7E-4E4E-19ACFF71E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DD8F3-8449-FA49-810E-F648CBC4EA6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0F4F4-E7B6-D477-334A-C699C72D6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E97A1-D6A2-7D72-E526-33B6207F9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ADDE5-AC0B-2848-A1EF-445A16A985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7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uhammadUmerMehmood/Forecasting-Glucose-Levels-in-Type-1-Diabetes-Using-Time-Series-Approaches-/tree/main" TargetMode="External"/><Relationship Id="rId2" Type="http://schemas.openxmlformats.org/officeDocument/2006/relationships/hyperlink" Target="https://pubmed.ncbi.nlm.nih.gov/35466701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58CF2-0B72-6CDD-8BB6-936815170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Forecasting Glucose Levels in Type 1 Diabetes Using Time-Series Approaches</a:t>
            </a:r>
            <a:br>
              <a:rPr lang="en-US" sz="3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330AE-1637-D088-E062-0FA0F1B3D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Umer Mehmood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23102319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M.Sc. Data Science Student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Hertfordshire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39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22EDB5-C0D6-B783-0D3E-C95F7E89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5695C-CAAD-D042-7173-39E6EA2F4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Glucose Monitors (CGM) record blood glucose every 5 minutes, generating rich time series data that can be leveraged for predictive modelling.</a:t>
            </a:r>
          </a:p>
          <a:p>
            <a:pPr marL="0" indent="0">
              <a:buNone/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statistical models fail to capture the complex, non-linear patterns in CGM data — deep learning models like LSTM, GRU and CNN offer a powerful solution.</a:t>
            </a: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18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F77EC-2432-6E86-E0A9-8921AF33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9FA0E-011E-1AFF-D9EB-8F26BC2C6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Question: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Can deep learning models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(LSTM, GRU and CNN) 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forecast blood glucose levels 30 minutes ahead using </a:t>
            </a: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CGM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 data from patients?</a:t>
            </a:r>
          </a:p>
          <a:p>
            <a:pPr marL="0" indent="0">
              <a:buNone/>
            </a:pP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compare model performance using MAE, RMSE and R² metrics.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most accurate and clinically reliable model for blood glucose forecasting.</a:t>
            </a:r>
          </a:p>
          <a:p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train three deep learning models (LSTM, GRU and CNN) for 30-minute ahead glucose forecasting.</a:t>
            </a:r>
          </a:p>
          <a:p>
            <a:endParaRPr lang="en-US" sz="1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52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437D5-4B83-58A3-ACEB-F12F6228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B78BFA-3CB8-9029-E442-A5996C445770}"/>
              </a:ext>
            </a:extLst>
          </p:cNvPr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Literature </a:t>
            </a:r>
            <a:r>
              <a:rPr lang="en-US" sz="48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Overview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0CD2-890F-304E-0BD2-78DAB97D7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Overview: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Progress: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LSTM, GRU and CNN models improve glucose forecasting by learning complex sequential dependencies from CGM time series data.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Identified: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patient-specific variability, unpredictable time intervals, and a lack of clinical interpretability.</a:t>
            </a:r>
          </a:p>
          <a:p>
            <a:pPr marL="0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Jaloli, M. &amp; Cescon, M. (2023).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prediction of blood glucose levels in type 1 diabetes using a CNN-LSTM-based deep neural network.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K. et al. (2019). </a:t>
            </a:r>
            <a:r>
              <a:rPr lang="en-US" sz="1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GluNet: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framework for accurate glucose forecasting.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208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426B6-E9B0-D5A2-8124-A745128F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9B480-6BF8-A786-A20B-4038D908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647,858 rows of patient time-series CGM data 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 — Blood glucose level (mg/dL)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Data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Insulin dosage, comorbidities, diagnosis 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Gender, race, education level, income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Timestamped every 5 minutes (CGM device)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insulin entries, patient-wise variability, missing values in some fields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3971260E-C115-487F-29C2-2D6ABF445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5479962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gl — Blood glucose level (mg/dL)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996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1B7A5-99E8-F2EE-7A81-A8EE2816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&amp; Preprocessing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D16821E5-885E-65F7-D49D-F799DA9A27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78" y="3106654"/>
            <a:ext cx="1090748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hour of day and lag features to tell the model what glucose was 5, 10 and 15 minutes ago.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Added rolling average to show whether glucose is rising or falling over the last 30 minutes and 1 hour.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extreme values and scaled all glucose readings between 0 and 1 for stable model training.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data into sequences of 12 readings to predict next 6 readings with a 70/15/15 train/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/test split.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70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66E21-1C4B-CB0C-E320-283EF711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8CE3E-C7FD-386F-3446-AC5D4C07C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961" y="2191804"/>
            <a:ext cx="4991629" cy="36771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Glucose Zones: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51.4% of readings are in the normal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— 48.6% in dangerous zones.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Glucose Levels: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with mean 173.9 mg/dL —                    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majority of readings in hyperglycemic zone.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3B3D3C-4D15-9FBB-526F-29E6D082B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264" y="841905"/>
            <a:ext cx="2567509" cy="2317178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19AAE3-D4C3-42AC-86CF-182FA4AA4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3974155"/>
            <a:ext cx="4305905" cy="1776185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701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EB410-70D6-603D-C55E-714CE36A4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264770"/>
            <a:ext cx="4991629" cy="36771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Time Series: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volatile glucose patterns in Patient 1 — mean 213.8 mg/dL over 2 weeks.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Glucose by Hour of Day: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glucose at 4–6 AM, peaks at 10 AM — clear daily temporal pattern.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668D98-EEF3-854A-1D1B-8693966A4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66" y="1112401"/>
            <a:ext cx="4305905" cy="1776185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51BA2-1708-CFC3-D36D-6D73D3A85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4103332"/>
            <a:ext cx="4305905" cy="1517832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861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995A6-2BA8-088C-E71D-B4D21CDE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A67DB-D0EB-74C8-42AD-9972236C1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1200"/>
              </a:spcBef>
              <a:buSzTx/>
              <a:buFontTx/>
              <a:buNone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(Long Short-Term Memory)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sequential patterns and long-range dependencies in glucose data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(Gated Recurrent Unit)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alternative to LSTM with faster training and competitive performance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Robust, non-linear ensemble model—great for handling mixed feature types and baseline comparison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077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877F5-D31B-A434-ED73-FBA532300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Evaluation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DA3DD83-F815-2BAC-04A2-1D1C71CD18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Time-based 70% / 15% / 15% train/validation/test split across 200 T1D patients.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 timesteps × 12 engineered features per sequence.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and ReduceLROnPlateau applied to all models.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 evaluated using MAE, RMSE and R² on unseen test data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361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35DC4-F847-332E-C4F3-91030FB9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577EF-2CE5-1E09-CDE2-808808BAB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CNN: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performer across all 3 metrics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MAE (14.31) and RMSE (21.63), highest R² (0.9359)</a:t>
            </a:r>
          </a:p>
          <a:p>
            <a:pPr marL="0" indent="-22860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LSTM: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performance, second best overall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predictions with R² of 0.9263</a:t>
            </a:r>
          </a:p>
          <a:p>
            <a:pPr marL="0" indent="-22860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GRU: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weaker performance across all metrics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benefit from further hyperparameter tuning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0B6960-1386-8712-0BBF-AD2F83AB2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636" y="774285"/>
            <a:ext cx="4163182" cy="25811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A5AE12-F2CB-3865-1C95-DEE4FE195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3779353"/>
            <a:ext cx="4389120" cy="217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74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F652F-2791-3A9E-7A2B-127F425E6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Discussion &amp; Limitations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1536B-1F7B-EE15-2818-17A22AC4B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Patient Variability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Glucose patterns differ significantly across patients personalized models are essential.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📉 GRU Underperformance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showed higher error rates may require deeper hyperparameter tuning.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📦 Dataset Limitations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Placeholder dates (year 1900) reduce the quality of temporal features.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🧩 Feature Gaps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clinical and lifestyle fields contain missing or noisy values.</a:t>
            </a:r>
          </a:p>
          <a:p>
            <a:pPr marL="0" indent="0">
              <a:buNone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⏱️ Temporal Granularity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 time gaps can disrupt sequence continuity and affect model precision.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77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C67BA-D7A0-6BD8-994C-ACB6704C8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14B54-E4C5-1D63-D7ED-669D8245A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Accurate glucose prediction enables proactive care.</a:t>
            </a:r>
          </a:p>
          <a:p>
            <a:pPr marL="0" indent="0">
              <a:buNone/>
            </a:pP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💉 Supports personalized insulin management for T1D patients.</a:t>
            </a:r>
          </a:p>
          <a:p>
            <a:pPr marL="0" indent="0">
              <a:buNone/>
            </a:pP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Powers real-time CGM apps for continuous monitoring.</a:t>
            </a:r>
          </a:p>
          <a:p>
            <a:pPr marL="0" indent="0">
              <a:buNone/>
            </a:pP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🏥 Enhances clinical decision-making for healthcare professionals.</a:t>
            </a:r>
          </a:p>
          <a:p>
            <a:pPr marL="0" indent="0">
              <a:buNone/>
            </a:pPr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Scalable to wider Type 1 Diabetes patient populations.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711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3183A-0257-958F-C52E-FCA493F0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11BC2-3B0E-BE8F-56F9-0F832855C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CNN achieved the best forecasting performance with MAE of 14.31 mg/dL and R² of 0.9359.</a:t>
            </a:r>
          </a:p>
          <a:p>
            <a:pPr marL="0" indent="0">
              <a:buNone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All three models demonstrated strong predictive accuracy with R² scores above 0.89.</a:t>
            </a:r>
          </a:p>
          <a:p>
            <a:pPr marL="0" indent="0">
              <a:buNone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Train on larger &amp; more diverse T1D patient datasets to improve generalizability.</a:t>
            </a:r>
          </a:p>
          <a:p>
            <a:pPr marL="0" indent="0">
              <a:buNone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prediction with CGM devices for clinical deployment.</a:t>
            </a:r>
          </a:p>
          <a:p>
            <a:pPr marL="0" indent="0">
              <a:buNone/>
            </a:pP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Explore hybrid models and attention mechanisms for further accuracy improvement.</a:t>
            </a:r>
          </a:p>
          <a:p>
            <a:pPr marL="0" indent="0">
              <a:buNone/>
            </a:pPr>
            <a:endParaRPr lang="en-GB" sz="15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006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B2513-3AA2-A696-CF6F-0E797A06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>
                <a:latin typeface="Times New Roman" panose="02020603050405020304" pitchFamily="18" charset="0"/>
                <a:cs typeface="Times New Roman" panose="02020603050405020304" pitchFamily="18" charset="0"/>
              </a:rPr>
              <a:t>Reference &amp;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93B34-0F28-E1D0-0F4A-C734E33E8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Jaloli, M. &amp; Cescon, M. (2023). Long-term prediction of blood glucose levels in type 1 diabetes using a CNN-LSTM-based deep neural network. Journal of Diabetes Science and Technology, 17(6), 1590-1601.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https://github.com/MuhammadUmerMehmood/Forecasting-Glucose-Levels-in-Type-1-Diabetes-Using-Time-Series-Approaches-/tree/main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394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A6474E-29BC-5A6A-8E4A-87D0C4B85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Any Question? Please</a:t>
            </a:r>
          </a:p>
        </p:txBody>
      </p:sp>
    </p:spTree>
    <p:extLst>
      <p:ext uri="{BB962C8B-B14F-4D97-AF65-F5344CB8AC3E}">
        <p14:creationId xmlns:p14="http://schemas.microsoft.com/office/powerpoint/2010/main" val="69053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1983</TotalTime>
  <Words>940</Words>
  <Application>Microsoft Office PowerPoint</Application>
  <PresentationFormat>Widescreen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Office Theme</vt:lpstr>
      <vt:lpstr>Forecasting Glucose Levels in Type 1 Diabetes Using Time-Series Approaches </vt:lpstr>
      <vt:lpstr>Background &amp; Motivation</vt:lpstr>
      <vt:lpstr>Research Question &amp; Objectives</vt:lpstr>
      <vt:lpstr>PowerPoint Presentation</vt:lpstr>
      <vt:lpstr>Dataset Overview</vt:lpstr>
      <vt:lpstr>Feature Engineering &amp; Preprocessing</vt:lpstr>
      <vt:lpstr>Exploratory Data Analysis (EDA)</vt:lpstr>
      <vt:lpstr>PowerPoint Presentation</vt:lpstr>
      <vt:lpstr>Methodology &amp; Model Selection</vt:lpstr>
      <vt:lpstr>Training &amp; Evaluation</vt:lpstr>
      <vt:lpstr>Results</vt:lpstr>
      <vt:lpstr>Critical Discussion &amp; Limitations</vt:lpstr>
      <vt:lpstr>Implications</vt:lpstr>
      <vt:lpstr>Conclusion &amp; Future Work</vt:lpstr>
      <vt:lpstr>Reference &amp; Github</vt:lpstr>
      <vt:lpstr>Any Question? Please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Darshan Kakkad</dc:creator>
  <cp:lastModifiedBy>Muhammad Umer Mehmood</cp:lastModifiedBy>
  <cp:revision>26</cp:revision>
  <dcterms:created xsi:type="dcterms:W3CDTF">2025-11-12T13:13:26Z</dcterms:created>
  <dcterms:modified xsi:type="dcterms:W3CDTF">2026-03-26T00:54:23Z</dcterms:modified>
</cp:coreProperties>
</file>